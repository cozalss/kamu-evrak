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(20 sn): "Merhaba, biz [takım]. Kamu kurumlarının her gün karşılaştığı evrak</a:t>
            </a:r>
          </a:p>
          <a:p>
            <a:r>
              <a:t>ve yazışma yükünü çok-ajanlı bir yapay zeka sistemiyle hafifletiyoruz. 10 dakikada problemi,</a:t>
            </a:r>
          </a:p>
          <a:p>
            <a:r>
              <a:t>çözümümüzü ve çalışan demomuzu göstereceğiz." (Görsel: temiz kapak; logo + 1. Senaryo etiketi.)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(40 sn): "Bu işler bugün büyük ölçüde elle yapılıyor: memur evrakı okuyor,</a:t>
            </a:r>
          </a:p>
          <a:p>
            <a:r>
              <a:t>türünü anlıyor, eksikse geri istiyor, mevzuatı buluyor, doğru birime gönderiyor, sonra resmî</a:t>
            </a:r>
          </a:p>
          <a:p>
            <a:r>
              <a:t>yazıyı yazıyor. Hacim büyük, süreler yasal, hata maliyeti yüksek. Tam da dil-ajanlarının</a:t>
            </a:r>
          </a:p>
          <a:p>
            <a:r>
              <a:t>değer katacağı bir alan."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(40 sn): "Çözümümüz tek bir akış: belge giriyor, dokuz-on ajan sırayla</a:t>
            </a:r>
          </a:p>
          <a:p>
            <a:r>
              <a:t>çalışıyor — biri türü buluyor, biri bilgileri çıkarıp kişisel veriyi maskeliyor, biri eksiği</a:t>
            </a:r>
          </a:p>
          <a:p>
            <a:r>
              <a:t>yakalıyor, biri mevzuatı öneriyor, biri özetliyor; sonra ikinci görev: doğru birime havale,</a:t>
            </a:r>
          </a:p>
          <a:p>
            <a:r>
              <a:t>resmî yazı taslağı, doğrulama, bilgilendirme. İki görev, tek pipeline."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(45 sn): "Mimarimiz koşullu-kenarlı bir LangGraph. Ekranda gördüğünüz şema</a:t>
            </a:r>
          </a:p>
          <a:p>
            <a:r>
              <a:t>demo sırasında canlı yanıyor. Yeşil node'lar Görev 1, mavi node'lar Görev 2. Şu paralel kol —</a:t>
            </a:r>
          </a:p>
          <a:p>
            <a:r>
              <a:t>mevzuat önerisi ve özetleme aynı anda koşuyor. CRAG ve Self-RAG gibi ileri teknikler birer</a:t>
            </a:r>
          </a:p>
          <a:p>
            <a:r>
              <a:t>ENV bayrağıyla açılıyor: varsayılan kapalı, ölçülerek açılıyor."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(45 sn): "Görev 1'de evrak türünü buluyoruz, bilgileri çıkarıyoruz — ve</a:t>
            </a:r>
          </a:p>
          <a:p>
            <a:r>
              <a:t>kritik: kişisel veriyi backend'de maskeliyoruz, ham TCKN arayüze hiç ulaşmıyor. Eksik bilgiyi</a:t>
            </a:r>
          </a:p>
          <a:p>
            <a:r>
              <a:t>recall-öncelikli yakalıyoruz, çünkü kamuda kaçan eksik, yanlış-alarmdan pahalıdır. Mevzuatı</a:t>
            </a:r>
          </a:p>
          <a:p>
            <a:r>
              <a:t>öneriyor, özeti çıkarıyoruz. Skorlar mock taban — gerçek-LLM modu yükseltir; birazdan dürüstçe açacağım."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(45 sn): "Görev 2'de doğru birime havale öneriyoruz, sonra resmî yazı</a:t>
            </a:r>
          </a:p>
          <a:p>
            <a:r>
              <a:t>taslağını üretiyoruz — T.C. başlığı, Sayı, Konu, İlgi, kapanış: Yön. 2646 formatına uygun.</a:t>
            </a:r>
          </a:p>
          <a:p>
            <a:r>
              <a:t>Memur tek tıkla PDF veya DOCX indiriyor. Eksik bilgi varsa sistem körlemesine yazmaz —</a:t>
            </a:r>
          </a:p>
          <a:p>
            <a:r>
              <a:t>durur, vatandaştan bilgi ister."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(50 sn): "Teknik derinliği iddiayla değil ölçümle gösteriyoruz. Mevzuat</a:t>
            </a:r>
          </a:p>
          <a:p>
            <a:r>
              <a:t>aramada BM25 uzunluk normalizasyonunu ölçerek ayarladık. Anti-halüsinasyon kapımız doğru</a:t>
            </a:r>
          </a:p>
          <a:p>
            <a:r>
              <a:t>içeriği yanlışlıkla vetolamıyor — yanlış-pozitif sıfır. Tüm skorları Wilson güven aralığıyla,</a:t>
            </a:r>
          </a:p>
          <a:p>
            <a:r>
              <a:t>ablasyonları McNemar testiyle veriyoruz; anlamsız farkı 'anlamlı değil' diye yazıyoruz. Bu jüriye güven verir."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(40 sn): "Demomuz canlı: belge giriyor, ajan şeması gerçek zamanlı yanıyor.</a:t>
            </a:r>
          </a:p>
          <a:p>
            <a:r>
              <a:t>Beş hazır örnek var, dosya aramaya gerek yok. En önemlisi — şartname internet-kesintisini</a:t>
            </a:r>
          </a:p>
          <a:p>
            <a:r>
              <a:t>önemsiyor: bizim varsayılan modumuz mock, hiçbir dış çağrı yapmıyor, internet olmadan da tam çalışıyor.</a:t>
            </a:r>
          </a:p>
          <a:p>
            <a:r>
              <a:t>Bu, jüri canlı çalıştırma istediğinde bizi güvende tutar." (Detay: docs/demo-senaryosu.md.)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(45 sn): "Yeniliğimiz hem mimaride hem üründe. Çok-ajan kurgunun değerini</a:t>
            </a:r>
          </a:p>
          <a:p>
            <a:r>
              <a:t>ablasyonla nicelliyoruz. PII maskeleme gerçek bir ürün koruması. Lisansımız tamamen temiz MIT —</a:t>
            </a:r>
          </a:p>
          <a:p>
            <a:r>
              <a:t>AGPL bağımlılık yok, bu ticarileşme için kritik. Sistem hem bulutta hem kurum-içi offline</a:t>
            </a:r>
          </a:p>
          <a:p>
            <a:r>
              <a:t>çalışabildiği için kamu gizliliği için biçilmiş kaftan."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 (50 sn): "Kapatırken en önemli şeyi söyleyeyim: dürüstüz. Gösterdiğimiz</a:t>
            </a:r>
          </a:p>
          <a:p>
            <a:r>
              <a:t>skorlar mock taban — yani LLM yerine kural-tabanlı fallback. Bunu özellikle vurguluyoruz çünkü</a:t>
            </a:r>
          </a:p>
          <a:p>
            <a:r>
              <a:t>in-domain'de 0.92 görünen sınıflandırma, held-out'ta 0.22'ye düşüyor; bu, kural tabanının</a:t>
            </a:r>
          </a:p>
          <a:p>
            <a:r>
              <a:t>genellemediğini dürüstçe gösteriyor. Asıl değer gerçek-LLM modunda ve few-shot prompt'umuz</a:t>
            </a:r>
          </a:p>
          <a:p>
            <a:r>
              <a:t>hazır. Pipeline her iki modda da aynı — değişen sadece kalite. Teşekkürler, sorularınızı bekliyoruz."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1 — Kapak / Takım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Başlık: kamu-evrak — Kamu Evrak ve Yazışma Süreçleri için Akıllı Agent Destek Sistemi</a:t>
            </a:r>
          </a:p>
          <a:p>
            <a:pPr/>
            <a:r>
              <a:t>Alt başlık: TEKNOFEST 2026 · Yapay Zeka Dil Ajanları Yarışması (TYDA) · 1. Senaryo</a:t>
            </a:r>
          </a:p>
          <a:p>
            <a:pPr/>
            <a:r>
              <a:t>Takım: [Takım adı] · [Kaptan + üyeler] · Roller: Backend/Ajan · RAG/ML · Frontend/Demo · Veri/Eval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2 — Problem: Kamu Evrak Yükü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Mesaj: Kamu kurumlarına günde binlerce evrak gelir — dilekçe, başvuru, şikâyet, tebligat,</a:t>
            </a:r>
          </a:p>
          <a:p>
            <a:pPr/>
            <a:r>
              <a:t>üst yazı, fatura, dava/icra evrakı. Her biri: doğru sınıflandırma, eksik-bilgi kontrolü, doğru</a:t>
            </a:r>
          </a:p>
          <a:p>
            <a:pPr/>
            <a:r>
              <a:t>mevzuat, doğru birime havale ve resmî-format cevabi yazı gerektirir.</a:t>
            </a:r>
          </a:p>
          <a:p>
            <a:pPr/>
            <a:r>
              <a:t>Manuel süreç yavaş ve hata-açık: tür karışır, eksik bilgi geç fark edilir, yanlış birime havale gecikme yaratır.</a:t>
            </a:r>
          </a:p>
          <a:p>
            <a:pPr/>
            <a:r>
              <a:t>Yasal süre baskısı: dilekçe 30 gün (3071), bilgi edinme 15 iş günü (4982), tebligat süre başlatır (7201).</a:t>
            </a:r>
          </a:p>
          <a:p>
            <a:pPr/>
            <a:r>
              <a:t>Resmî format zorunluluğu: Resmî Yazışma Yönetmeliği (Yön. 2646) zorunlu bölümleri.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3 — Çözüm: Çok-Ajanlı Pipeline (Görev 1 + Görev 2 tek uçtan-uca)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Mesaj: Tek bir LangGraph boru hattı iki zorunlu görevi birlikte çözer:</a:t>
            </a:r>
          </a:p>
          <a:p>
            <a:pPr/>
            <a:r>
              <a:t>oku → sınıflandır → bilgi çıkar → eksik tespit → mevzuat öner → özetle (Görev 1) ve</a:t>
            </a:r>
          </a:p>
          <a:p>
            <a:pPr/>
            <a:r>
              <a:t>birime yönlendir → resmî yazı taslakla → doğrula → bilgilendir (Görev 2).</a:t>
            </a:r>
          </a:p>
          <a:p>
            <a:pPr/>
            <a:r>
              <a:t>Neden çok-ajan? Her ajan dar bir görevden sorumlu → bağımsız test edilir, hata yayılımı ölçülür (tek-prompt monolitin aksine).</a:t>
            </a:r>
          </a:p>
          <a:p>
            <a:pPr/>
            <a:r>
              <a:t>Deterministik taban + ENV-gated SOTA: LLM olmadan da (mock) uçtan-uca çalışır; ileri teknikler bayrakla açılır.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4 — Mimari (Diyagram + Ekran Görüntüsü)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Görsel: docs/img/02-akis.png (canlı Ajan Akış Şeması — Görev 1 yeşil / Görev 2 mavi renk ayrımı).</a:t>
            </a:r>
          </a:p>
          <a:p>
            <a:pPr/>
            <a:r>
              <a:t>10 node + ENV-gated crag / self_rag / clarifier (varsayılan kapalı).</a:t>
            </a:r>
          </a:p>
          <a:p>
            <a:pPr/>
            <a:r>
              <a:t>State reducer'lar paralel kolu (mevzuat ∥ özet) yarış-koşulsuz birleştirir.</a:t>
            </a:r>
          </a:p>
          <a:p>
            <a:pPr/>
            <a:r>
              <a:t>OCR graf-öncesi (API route) → graf saf metin üzerinde çalışır → test-edilebilir.</a:t>
            </a:r>
          </a:p>
        </p:txBody>
      </p:sp>
      <p:pic>
        <p:nvPicPr>
          <p:cNvPr id="4" name="Picture 3" descr="02-ak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840480" cy="10599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5 — Görev 1: Sınıflandırma + İçerik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Görsel: docs/img/03-sonuc.png (sonuç kartları — PII maskeli rozet).</a:t>
            </a:r>
          </a:p>
          <a:p>
            <a:pPr/>
            <a:r>
              <a:t>Tür belirleme</a:t>
            </a:r>
          </a:p>
          <a:p>
            <a:pPr lvl="1"/>
            <a:r>
              <a:t>Nasıl: 19 tür taksonomisi + abstention (belirsiz)</a:t>
            </a:r>
          </a:p>
          <a:p>
            <a:pPr lvl="1"/>
            <a:r>
              <a:t>Kanıt (mock taban): macro-F1 0.919 / acc 0.917</a:t>
            </a:r>
          </a:p>
          <a:p>
            <a:pPr/>
            <a:r>
              <a:t>Bilgi çıkarımı</a:t>
            </a:r>
          </a:p>
          <a:p>
            <a:pPr lvl="1"/>
            <a:r>
              <a:t>Nasıl: gönderen/tarih/sayı/konu/talep + PII maskeleme</a:t>
            </a:r>
          </a:p>
          <a:p>
            <a:pPr lvl="1"/>
            <a:r>
              <a:t>Kanıt (mock taban): 🛡️ ham TCKN/telefon arayüze ulaşmaz</a:t>
            </a:r>
          </a:p>
          <a:p>
            <a:pPr/>
            <a:r>
              <a:t>Eksik tespiti</a:t>
            </a:r>
          </a:p>
          <a:p>
            <a:pPr lvl="1"/>
            <a:r>
              <a:t>Nasıl: tür-bağımlı zorunlu-alan (recall-öncelikli)</a:t>
            </a:r>
          </a:p>
          <a:p>
            <a:pPr lvl="1"/>
            <a:r>
              <a:t>Kanıt (mock taban): recall(β=2) 0.995</a:t>
            </a:r>
          </a:p>
          <a:p>
            <a:pPr/>
            <a:r>
              <a:t>Mevzuat önerisi</a:t>
            </a:r>
          </a:p>
          <a:p>
            <a:pPr lvl="1"/>
            <a:r>
              <a:t>Nasıl: madde-bazlı BM25 (59 chunk)</a:t>
            </a:r>
          </a:p>
          <a:p>
            <a:pPr lvl="1"/>
            <a:r>
              <a:t>Kanıt (mock taban): Recall@3 yüksek (in-domain)</a:t>
            </a:r>
          </a:p>
          <a:p>
            <a:pPr/>
            <a:r>
              <a:t>Özet</a:t>
            </a:r>
          </a:p>
          <a:p>
            <a:pPr lvl="1"/>
            <a:r>
              <a:t>Nasıl: key-fact odaklı</a:t>
            </a:r>
          </a:p>
          <a:p>
            <a:pPr lvl="1"/>
            <a:r>
              <a:t>Kanıt (mock taban): faithfulness 1.000 (halüsinasyonsuz)</a:t>
            </a:r>
          </a:p>
        </p:txBody>
      </p:sp>
      <p:pic>
        <p:nvPicPr>
          <p:cNvPr id="4" name="Picture 3" descr="03-son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840480" cy="4404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6 — Görev 2: Resmî Yazı + Birim Yönlendirme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Görsel: docs/img/04-taslak.png (resmî yazı taslağı + PDF/DOCX indir).</a:t>
            </a:r>
          </a:p>
          <a:p>
            <a:pPr/>
            <a:r>
              <a:t>Birim yönlendirme</a:t>
            </a:r>
          </a:p>
          <a:p>
            <a:pPr lvl="1"/>
            <a:r>
              <a:t>Nasıl: 9 birim eşleme + top-k + güven</a:t>
            </a:r>
          </a:p>
          <a:p>
            <a:pPr lvl="1"/>
            <a:r>
              <a:t>Kanıt (mock taban): Top-1 0.931 / Top-3 0.944</a:t>
            </a:r>
          </a:p>
          <a:p>
            <a:pPr/>
            <a:r>
              <a:t>Resmî yazı taslağı</a:t>
            </a:r>
          </a:p>
          <a:p>
            <a:pPr lvl="1"/>
            <a:r>
              <a:t>Nasıl: Yön. 2646 jinja2 iskelet + LLM doldurma (üst/cevabi/bilgilendirme/olur)</a:t>
            </a:r>
          </a:p>
          <a:p>
            <a:pPr lvl="1"/>
            <a:r>
              <a:t>Kanıt (mock taban): türü doğruluğu 0.995</a:t>
            </a:r>
          </a:p>
          <a:p>
            <a:pPr/>
            <a:r>
              <a:t>Resmî üslup</a:t>
            </a:r>
          </a:p>
          <a:p>
            <a:pPr lvl="1"/>
            <a:r>
              <a:t>Nasıl: zorunlu bölüm checklist + Türkçe saflık</a:t>
            </a:r>
          </a:p>
          <a:p>
            <a:pPr lvl="1"/>
            <a:r>
              <a:t>Kanıt (mock taban): saflık 1.0000, bileşen tam-uyum 0.838</a:t>
            </a:r>
          </a:p>
          <a:p>
            <a:pPr/>
            <a:r>
              <a:t>Bilgilendirme</a:t>
            </a:r>
          </a:p>
          <a:p>
            <a:pPr lvl="1"/>
            <a:r>
              <a:t>Nasıl: özet + birim + mevzuat + disclaimer</a:t>
            </a:r>
          </a:p>
          <a:p>
            <a:pPr lvl="1"/>
            <a:r>
              <a:t>Kanıt (mock taban): her çıktıda yasal disclaimer</a:t>
            </a:r>
          </a:p>
          <a:p>
            <a:pPr/>
            <a:r>
              <a:t>Eksik isteme</a:t>
            </a:r>
          </a:p>
          <a:p>
            <a:pPr lvl="1"/>
            <a:r>
              <a:t>Nasıl: clarifier dur-ve-sor (kritik alan eksikse taslak yok)</a:t>
            </a:r>
          </a:p>
          <a:p>
            <a:pPr lvl="1"/>
            <a:r>
              <a:t>Kanıt (mock taban): dur-ve-sor dalı</a:t>
            </a:r>
          </a:p>
        </p:txBody>
      </p:sp>
      <p:pic>
        <p:nvPicPr>
          <p:cNvPr id="4" name="Picture 3" descr="04-tasl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840480" cy="1709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7 — Teknik Derinlik (RAG · Verify · Ablation)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Mesaj: Yöntem derinliğinin kanıtı ölçümdür.</a:t>
            </a:r>
          </a:p>
          <a:p>
            <a:pPr/>
            <a:r>
              <a:t>Mevzuat RAG: madde-bazlı chunk + BM25 (uzunluk-norm b=0.3 ölçülerek ayarlandı, kısa-madde kayırması düzeltildi).</a:t>
            </a:r>
          </a:p>
          <a:p>
            <a:pPr/>
            <a:r>
              <a:t>Verify / uydurma-veto: kurum/tarih/sayı/madde kaynakta yoksa veto; false-veto = 0/216 (doğruyu vetolamaz, uydurmayı yakalar).</a:t>
            </a:r>
          </a:p>
          <a:p>
            <a:pPr/>
            <a:r>
              <a:t>İstatistiksel disiplin: tüm oranlar Wilson %95 CI; ablasyon A/B'leri McNemar p + bootstrap Δpp CI.</a:t>
            </a:r>
          </a:p>
          <a:p>
            <a:pPr/>
            <a:r>
              <a:t>Dürüstlük kuralı: "+5pp ama p=0.31 → anlamlı DEĞİL" diye raporlanır.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8 — Demo (Real-Time Üretim Avantajı)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Görsel: docs/img/01-yukleme.png (yükleme + 5 örnek evrak) + docs/img/02-akis.png (canlı akış).</a:t>
            </a:r>
          </a:p>
          <a:p>
            <a:pPr/>
            <a:r>
              <a:t>Canlı SSE Ajan Akış Şeması: node'lar gerçek-zamanlı "yanar" → "düşünen sistem" hissi (Demo 15p).</a:t>
            </a:r>
          </a:p>
          <a:p>
            <a:pPr/>
            <a:r>
              <a:t>5 örnek evrak tek tıkla (Dilekçe, Bilgi Edinme, Üst Yazı, Tebligat, Şikâyet-eksik) → jüri dosya aramadan çalıştırır.</a:t>
            </a:r>
          </a:p>
          <a:p>
            <a:pPr/>
            <a:r>
              <a:t>İnternet-kesinti yedeği: LLM_MODE=mock sıfır dış-bağımlılık offline çalışır; örnek evraklar OCR'sız yol.</a:t>
            </a:r>
          </a:p>
        </p:txBody>
      </p:sp>
      <p:pic>
        <p:nvPicPr>
          <p:cNvPr id="4" name="Picture 3" descr="01-yukl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840480" cy="18737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9 — Yenilikçilik / Özgünlük / Ticarileşme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Özgünlük: çok-ajan vs tek-ajan ablasyonla kanıtlanan kurgu; ENV-gated CRAG (Yan 2024) / Self-RAG (Asai 2023); error-propagation ölçümü.</a:t>
            </a:r>
          </a:p>
          <a:p>
            <a:pPr/>
            <a:r>
              <a:t>Ürün artısı: belge PII maskeleme (kullanıcı koruması + jüri "wow"); SDP 2005/7 arşiv metadata.</a:t>
            </a:r>
          </a:p>
          <a:p>
            <a:pPr/>
            <a:r>
              <a:t>Ticarileşme / ölçeklenebilirlik: lisans-temiz MIT yığın (AGPL yok); modlar arası taşınabilir (mock/bulut/lokal); kamu kurumuna kurum-içi (offline) konuşlandırılabilir → gizlilik avantajı.</a:t>
            </a:r>
          </a:p>
          <a:p>
            <a:pPr/>
            <a:r>
              <a:t>Sürdürülebilirlik: deterministik veri (sabit tohum), tek-komut karne, CI regresyon kapısı.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Slayt 10 — Kapanış: Durum + Dürüstlük + Sonraki Adım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Hazır: Görev 1 (6/6) + Görev 2 (5/5) uçtan-uca çalışıyor; 210 test; CI; güvenlik denetimi (0 CRITICAL).</a:t>
            </a:r>
          </a:p>
          <a:p>
            <a:pPr/>
            <a:r>
              <a:t>Dürüst skor beyanı: Yayınlanan karne LLM_MODE=mock tabandır. Gerçek-LLM modu yükseltir.</a:t>
            </a:r>
          </a:p>
          <a:p>
            <a:pPr/>
            <a:r>
              <a:t>In-domain mock macro-F1 0.92; held-out (dairesel-olmayan) 0.22 → mock heuristik genellemiyor;</a:t>
            </a:r>
          </a:p>
          <a:p>
            <a:pPr/>
            <a:r>
              <a:t>gerçek değer few-shot LLM modunda (prompt hazır, anahtar verilince ölçülür).</a:t>
            </a:r>
          </a:p>
          <a:p>
            <a:pPr/>
            <a:r>
              <a:t>Sonraki adım (finalist olunursa): gerçek-LLM ölçümü, blind insan-etiketli gold, ablasyon genişletme, canlı OCR.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 — Sunum Hazırlık Notları (sunan için)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Süre hedefi: ~7 dk anlatım (slayt başı ~40-50 sn) → ön-eleme sunumu kısadır; final 10 dk ayrı (docs/sunum-final.md).</a:t>
            </a:r>
          </a:p>
          <a:p>
            <a:pPr/>
            <a:r>
              <a:t>Görseller: docs/img/01-04.png slaytlara gömülür; mümkünse docs/img/demo.gif Slayt 8'e.</a:t>
            </a:r>
          </a:p>
          <a:p>
            <a:pPr/>
            <a:r>
              <a:t>PDF/PPTX: bu Markdown → slayt aracına aktarılır; her slayt başlık + 3-5 madde + 1 görsel + konuşma notu (notlar PPTX "speaker notes"a).</a:t>
            </a:r>
          </a:p>
          <a:p>
            <a:pPr/>
            <a:r>
              <a:t>Kırmızı çizgi: skor sunulan her slaytta "mock taban" ibaresi sözlü tekrarlanır (jüri güveni &gt; yüksek-ama-şişirilmiş sayı).</a:t>
            </a:r>
          </a:p>
          <a:p>
            <a:pPr/>
            <a:r>
              <a:t>İdari hatırlatma: 4. takım üyesi (uygunluk §5) başvuru öncesi tamamlanmalı — docs/sartname-uyum-matrisi.md §F.1.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