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 senaryo + kontrol listesi + internet-kesinti yedeği: docs/demo-senaryosu.md.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 cümlesi: "Çalışan bir sistem, dürüst ölçümler — gpt-4o ile dairesel-olmayan</a:t>
            </a:r>
          </a:p>
          <a:p>
            <a:r>
              <a:t>held-out'ta ~%90 doğruluk — ve temiz bir MIT lisans getirdik; internet kesilse bile</a:t>
            </a:r>
          </a:p>
          <a:p>
            <a:r>
              <a:t>demomuz durmuyor. Teşekkürler."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Strateji: Her cevap kısa, kanıt-dosyasına atıflı ve dürüst. Zayıf yan sorulursa savunmaya</a:t>
            </a:r>
          </a:p>
          <a:p>
            <a:r>
              <a:t>geçme — açıkça kabul et + nasıl kapatacağını söyle. Dürüstlük jüri güveni kazandırır.</a:t>
            </a:r>
          </a:p>
          <a:p>
            <a:r>
              <a:t>Cevap: "Dürüst ve ölçülmüş bir cevap vereyim — ilerlemeyi aynı zor sette gösterebilirim:</a:t>
            </a:r>
          </a:p>
          <a:p>
            <a:r>
              <a:t>1. Mock taban (anahtarsız): LLM_MODE=mock — LLM yerine kural-tabanlı keyword/regex fallback.</a:t>
            </a:r>
          </a:p>
          <a:p>
            <a:r>
              <a:t>CI/offline tabanı; tavan değil. Dairesel-olmayan held-out'ta sıkı macro-F1 sadece 0.22 —</a:t>
            </a:r>
          </a:p>
          <a:p>
            <a:r>
              <a:t>bunu gizlemiyoruz, kural tabanının genellemediğini kanıtlıyor.</a:t>
            </a:r>
          </a:p>
          <a:p>
            <a:r>
              <a:t>2. gpt-4o-mini: Aynı held-out sette 0.61.</a:t>
            </a:r>
          </a:p>
          <a:p>
            <a:r>
              <a:t>3. gpt-4o (üretim tavanı): Aynı sette sıkı macro-F1 0.908, operasyonel accuracy 0.935,</a:t>
            </a:r>
          </a:p>
          <a:p>
            <a:r>
              <a:t>yönlendirme Top-1 0.926 — 108 evrakta 98 doğru. Hepsi Wilson %95 güven aralıklı.</a:t>
            </a:r>
          </a:p>
          <a:p>
            <a:r>
              <a:t>Kritik nokta — bu held-out dairesel DEĞİL: evraklar örtük/dolaylı ifadeyle, gen_synthetic'ten</a:t>
            </a:r>
          </a:p>
          <a:p>
            <a:r>
              <a:t>farklı şablon ve sözlükle yazıldı; keyword sızıntısı yok. Yani ilerleme **mock 0.22 → mini 0.61 →</a:t>
            </a:r>
          </a:p>
          <a:p>
            <a:r>
              <a:t>gpt-4o 0.91 gerçek bir genelleme sıçraması. Eval'imiz mock taksonomi değil gerçek LangGraph</a:t>
            </a:r>
          </a:p>
          <a:p>
            <a:r>
              <a:t>pipeline'ı** ölçüyor. Üretim önerimiz açık: LLM_MODE=openai + gpt-4o." (Kanıt:</a:t>
            </a:r>
          </a:p>
          <a:p>
            <a:r>
              <a:t>docs/benchmark/llm-heldout.md, docs/benchmark/scorecard.md, docs/method.md §2.1.)</a:t>
            </a:r>
          </a:p>
          <a:p>
            <a:r>
              <a:t>Cevap: "Hayır — şartname §6.5 gereği gerçek kamu verisi yasak. Tüm evraklar **%100</a:t>
            </a:r>
          </a:p>
          <a:p>
            <a:r>
              <a:t>sentetik/kurgu:** checksum-geçerli ama rastgele sahte TCKN, kurgu isim/adres, kamuya açık</a:t>
            </a:r>
          </a:p>
          <a:p>
            <a:r>
              <a:t>mevzuat metni (mevzuat.gov.tr). Üretim deterministik (sabit tohum). Demo verisi de bu setten</a:t>
            </a:r>
          </a:p>
          <a:p>
            <a:r>
              <a:t>veya sunum-anı kurgu örneklerden gelir. Hiçbir gerçek kişi/kurum verisi yok." (Kanıt: docs/data-card.md.)</a:t>
            </a:r>
          </a:p>
          <a:p>
            <a:r>
              <a:t>Cevap: "Uydurma yasağı bizde bir mimari kısıt. verify node taslaktaki kurum/tarih/</a:t>
            </a:r>
          </a:p>
          <a:p>
            <a:r>
              <a:t>sayı/madde atfını kaynakla doğrular; doğrulanamayan içeriği veto eder veya [DOĞRULA:]</a:t>
            </a:r>
          </a:p>
          <a:p>
            <a:r>
              <a:t>işaretine çevirir. Kritik metrik: bu kapının yanlış-pozitifi 0/216 — yani doğru içeriği</a:t>
            </a:r>
          </a:p>
          <a:p>
            <a:r>
              <a:t>yanlışlıkla vetolamadan gerçek uydurmayı yakalıyor. Özet faithfulness'ımız 1.000: özet, kaynakta</a:t>
            </a:r>
          </a:p>
          <a:p>
            <a:r>
              <a:t>olmayan tarih/sayı içermiyor. Üstüne her çıktıda yasal disclaimer var." (Kanıt: agents/nodes/verify.py, karne.)</a:t>
            </a:r>
          </a:p>
          <a:p>
            <a:r>
              <a:t>Cevap: "Bunu ablasyonla ölçüyoruz: çok-ajan vs tek-ajan, RAG var/yok, few-shot var/yok —</a:t>
            </a:r>
          </a:p>
          <a:p>
            <a:r>
              <a:t>her A/B McNemar p + bootstrap CI ile. Ayrıca error-propagation: Görev 2 yönlendirmeye gold-tür</a:t>
            </a:r>
          </a:p>
          <a:p>
            <a:r>
              <a:t>vs tahmin-tür besleyip çok-ajan kurgunun maliyetini nicelliyoruz. Dürüstlük kuralımız: kazanç</a:t>
            </a:r>
          </a:p>
          <a:p>
            <a:r>
              <a:t>anlamlı değilse '+5pp ama p=0.31, anlamlı değil' diye raporluyoruz. Yani 'açık' bayrağı yalnız</a:t>
            </a:r>
          </a:p>
          <a:p>
            <a:r>
              <a:t>ölçülen kazanç anlamlıysa savunuyoruz." (Kanıt: eval/ablation_eval.py, docs/benchmark/ablation.md.)</a:t>
            </a:r>
          </a:p>
          <a:p>
            <a:r>
              <a:t>Cevap: "cikar node çıkarılan TCKN/telefon/IBAN'ı maskeler — ve kritik: maskeleme</a:t>
            </a:r>
          </a:p>
          <a:p>
            <a:r>
              <a:t>çıkarımdan sonra, herhangi bir dış (bulut LLM) çağrısından önce uygulanır. Yani ham kişisel</a:t>
            </a:r>
          </a:p>
          <a:p>
            <a:r>
              <a:t>veri ne arayüze ne de buluta gider. Ekranda 🛡️ rozet bunun görünür kanıtı." (Kanıt: agents/nodes/cikar.py, docs/img/03-sonuc.png.)</a:t>
            </a:r>
          </a:p>
          <a:p>
            <a:r>
              <a:t>Cevap: "Evet — bu bizim altın kuralımız. Demo varsayılan LLM_MODE=mock modda koşar:</a:t>
            </a:r>
          </a:p>
          <a:p>
            <a:r>
              <a:t>hiçbir dış API çağrısı yok, node'lar deterministik fallback'e düşer, internet olmadan tam çalışır.</a:t>
            </a:r>
          </a:p>
          <a:p>
            <a:r>
              <a:t>Örnek evraklar OCR'sız JSON yolundan gider. Yedekte docs/img/demo.gif kaydı da var. Bulut LLM'i</a:t>
            </a:r>
          </a:p>
          <a:p>
            <a:r>
              <a:t>yalnız 'kalite tavanı' göstermek için açıyoruz; zorunlu değil." (Kanıt: docs/demo-senaryosu.md §2.)</a:t>
            </a:r>
          </a:p>
          <a:p>
            <a:r>
              <a:t>Cevap: "Repo MIT. Bağımlılık yığınımız tamamen temiz — AGPL yok; ADALET'in kullandığı</a:t>
            </a:r>
          </a:p>
          <a:p>
            <a:r>
              <a:t>PyMuPDF (AGPL) yerine pypdfium2 (Apache/BSD) yazdık. Büyük model ağırlıkları repoya yüklenmiyor,</a:t>
            </a:r>
          </a:p>
          <a:p>
            <a:r>
              <a:t>link+sürüm+lisansla dokümante. Hedef müşteri kamu kurumları ve EBYS/DYS operatörleri: değer önermesi</a:t>
            </a:r>
          </a:p>
          <a:p>
            <a:r>
              <a:t>evrak işleme süresinde ve havale hatasında düşüş. EBYS/e-Yazışma API'siyle entegre olur; çok-kurum</a:t>
            </a:r>
          </a:p>
          <a:p>
            <a:r>
              <a:t>SaaS veya kurum-içi on-prem (offline, KVKK) konuşlandırılır — iş modeli lisans/SaaS/kamu ihale.</a:t>
            </a:r>
          </a:p>
          <a:p>
            <a:r>
              <a:t>Tam anlatım docs/ticarileşme.md'de." (Kanıt: docs/ticarileşme.md, docs/07-model-lisanslari.md, LICENSE.)</a:t>
            </a:r>
          </a:p>
          <a:p>
            <a:r>
              <a:t>Cevap: "ADALET-AGENT'tan yeniden-kullanılabilir altyapıyı kopyaladık (çok-ajan iskeleti,</a:t>
            </a:r>
          </a:p>
          <a:p>
            <a:r>
              <a:t>OCR, SSE demo motoru, eval istatistikleri) — port haritası docs/04'te KEEP/ADAPT/DROP olarak</a:t>
            </a:r>
          </a:p>
          <a:p>
            <a:r>
              <a:t>şeffaf. Ama domain tamamen yeni: hukuk değil kamu evrak/yazışma; node listesi, taksonomi</a:t>
            </a:r>
          </a:p>
          <a:p>
            <a:r>
              <a:t>(19 tür/9 birim), mevzuat korpusu (2646/3071/4982/7201/SDP), resmî-yazı şablonları hepsi yeni.</a:t>
            </a:r>
          </a:p>
          <a:p>
            <a:r>
              <a:t>Hukuk-spesifik bileşenler (emsal, dava tahmini) tamamen DROP edildi." (Kanıt: docs/04-port-haritasi.md.)</a:t>
            </a:r>
          </a:p>
          <a:p>
            <a:r>
              <a:t>Cevap (dürüst): "Üç açık var, hepsini matriste işaretledik: (1) Tek held-out set riski —</a:t>
            </a:r>
          </a:p>
          <a:p>
            <a:r>
              <a:t>gerçek-LLM skorunu (gpt-4o 0.91) ölçtük ama tek sette; 2. bağımsız set ile çapraz-doğrulamak istiyoruz;</a:t>
            </a:r>
          </a:p>
          <a:p>
            <a:r>
              <a:t>(2) Blind insan-etiketli gold — otomatik etiketler bağımsız onaydan geçmeli; (3) Canlı OCR'ın uçtan-uca</a:t>
            </a:r>
          </a:p>
          <a:p>
            <a:r>
              <a:t>gerçek-evrak akışında genişletilmesi. İdari tarafta 4. takım üyesi tamamlanıyor. Bunları gizlemiyoruz</a:t>
            </a:r>
          </a:p>
          <a:p>
            <a:r>
              <a:t>çünkü dürüst ölçüm jüri güveni demek." (Kanıt: docs/benchmark/llm-heldout.md, docs/sartname-uyum-matrisi.md §G.)</a:t>
            </a:r>
          </a:p>
          <a:p>
            <a:r>
              <a:t>Cevap: "Şartname sabit eşik vermiyor, 'real-time avantaj' diyor. Biz sabit SLA iddia</a:t>
            </a:r>
          </a:p>
          <a:p>
            <a:r>
              <a:t>etmiyoruz; bunun yerine TTFT (ilk-token süresi) + SSE streaming'i öne çıkarıyoruz —</a:t>
            </a:r>
          </a:p>
          <a:p>
            <a:r>
              <a:t>node'lar canlı yanıyor, 'düşünen sistem' hissi. Tam-tamamlanma p95'i ayrı raporluyoruz.</a:t>
            </a:r>
          </a:p>
          <a:p>
            <a:r>
              <a:t>Mock mod zaten çok hızlı (dış çağrı yok)." (Kanıt: eval/latency_eval.py, docs/06-eval-harness.md.)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 10 Dakikalık Akış (zaman bütçeli)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0:00–0:40</a:t>
            </a:r>
          </a:p>
          <a:p>
            <a:pPr lvl="1"/>
            <a:r>
              <a:t>Bölüm: Açılış + problem</a:t>
            </a:r>
          </a:p>
          <a:p>
            <a:pPr lvl="1"/>
            <a:r>
              <a:t>Ana mesaj: Kamu evrak yükü: hacim + yasal süre + resmî format</a:t>
            </a:r>
          </a:p>
          <a:p>
            <a:pPr lvl="1"/>
            <a:r>
              <a:t>Görsel / Aksiyon: docs/img/01-yukleme.png</a:t>
            </a:r>
          </a:p>
          <a:p>
            <a:pPr/>
            <a:r>
              <a:t>0:40–1:40</a:t>
            </a:r>
          </a:p>
          <a:p>
            <a:pPr lvl="1"/>
            <a:r>
              <a:t>Bölüm: Çözüm + mimari</a:t>
            </a:r>
          </a:p>
          <a:p>
            <a:pPr lvl="1"/>
            <a:r>
              <a:t>Ana mesaj: İki görev tek LangGraph pipeline; çok-ajan neden?</a:t>
            </a:r>
          </a:p>
          <a:p>
            <a:pPr lvl="1"/>
            <a:r>
              <a:t>Görsel / Aksiyon: docs/img/02-akis.png (canlı şema)</a:t>
            </a:r>
          </a:p>
          <a:p>
            <a:pPr/>
            <a:r>
              <a:t>1:40–5:40</a:t>
            </a:r>
          </a:p>
          <a:p>
            <a:pPr lvl="1"/>
            <a:r>
              <a:t>Bölüm: CANLI DEMO (4 dk)</a:t>
            </a:r>
          </a:p>
          <a:p>
            <a:pPr lvl="1"/>
            <a:r>
              <a:t>Ana mesaj: Uçtan-uca Görev 1 + Görev 2 real-time</a:t>
            </a:r>
          </a:p>
          <a:p>
            <a:pPr lvl="1"/>
            <a:r>
              <a:t>Görsel / Aksiyon: Çalışan app (aşağıdaki senaryo)</a:t>
            </a:r>
          </a:p>
          <a:p>
            <a:pPr/>
            <a:r>
              <a:t>5:40–7:10</a:t>
            </a:r>
          </a:p>
          <a:p>
            <a:pPr lvl="1"/>
            <a:r>
              <a:t>Bölüm: Teknik derinlik</a:t>
            </a:r>
          </a:p>
          <a:p>
            <a:pPr lvl="1"/>
            <a:r>
              <a:t>Ana mesaj: RAG + verify + ablasyon + istatistik disiplini</a:t>
            </a:r>
          </a:p>
          <a:p>
            <a:pPr lvl="1"/>
            <a:r>
              <a:t>Görsel / Aksiyon: docs/benchmark/scorecard.md + ablation</a:t>
            </a:r>
          </a:p>
          <a:p>
            <a:pPr/>
            <a:r>
              <a:t>7:10–8:10</a:t>
            </a:r>
          </a:p>
          <a:p>
            <a:pPr lvl="1"/>
            <a:r>
              <a:t>Bölüm: Dürüst skor</a:t>
            </a:r>
          </a:p>
          <a:p>
            <a:pPr lvl="1"/>
            <a:r>
              <a:t>Ana mesaj: mock 0.22 → mini 0.61 → gpt-4o 0.91 held-out (dairesel-olmayan)</a:t>
            </a:r>
          </a:p>
          <a:p>
            <a:pPr lvl="1"/>
            <a:r>
              <a:t>Görsel / Aksiyon: Skor tablosu + llm-heldout.md</a:t>
            </a:r>
          </a:p>
          <a:p>
            <a:pPr/>
            <a:r>
              <a:t>8:10–9:10</a:t>
            </a:r>
          </a:p>
          <a:p>
            <a:pPr lvl="1"/>
            <a:r>
              <a:t>Bölüm: Yenilikçilik + ticarileşme</a:t>
            </a:r>
          </a:p>
          <a:p>
            <a:pPr lvl="1"/>
            <a:r>
              <a:t>Ana mesaj: PII maskeleme, ENV-gated SOTA, MIT yığın, EBYS/SaaS/on-prem</a:t>
            </a:r>
          </a:p>
          <a:p>
            <a:pPr lvl="1"/>
            <a:r>
              <a:t>Görsel / Aksiyon: Ticarileşme slaytı (ticarileşme.md)</a:t>
            </a:r>
          </a:p>
          <a:p>
            <a:pPr/>
            <a:r>
              <a:t>9:10–10:00</a:t>
            </a:r>
          </a:p>
          <a:p>
            <a:pPr lvl="1"/>
            <a:r>
              <a:t>Bölüm: Kapanış</a:t>
            </a:r>
          </a:p>
          <a:p>
            <a:pPr lvl="1"/>
            <a:r>
              <a:t>Ana mesaj: Durum + yol haritası + güçlü kapanış cümlesi</a:t>
            </a:r>
          </a:p>
          <a:p>
            <a:pPr lvl="1"/>
            <a:r>
              <a:t>Görsel / Aksiyon: Kapanış slaytı</a:t>
            </a:r>
          </a:p>
          <a:p>
            <a:pPr/>
            <a:r>
              <a:t>### Demo bölümü (1:40–5:40) — adım adım</a:t>
            </a:r>
          </a:p>
          <a:p>
            <a:pPr/>
            <a:r>
              <a:t>1. (60 sn) Örnek evrak → canlı ajan akışı. "Dilekçe" örneğine tıkla → Ajan Akış Şeması</a:t>
            </a:r>
          </a:p>
          <a:p>
            <a:pPr/>
            <a:r>
              <a:t>sırayla yanar: `oku → siniflandir → cikar → eksik_tespit → [mevzuat_oner ∥ ozetle] →</a:t>
            </a:r>
          </a:p>
          <a:p>
            <a:pPr/>
            <a:r>
              <a:t>route_birim → yazi_taslak → verify → arsiv → finalize`. Paralel kolu vurgula.</a:t>
            </a:r>
          </a:p>
          <a:p>
            <a:pPr/>
            <a:r>
              <a:t>2. (45 sn) Sonuç kartları. Evrak türü + güven; 🛡️ PII maskeli rozet (ham TCKN arayüze</a:t>
            </a:r>
          </a:p>
          <a:p>
            <a:pPr/>
            <a:r>
              <a:t>ulaşmıyor); eksik-bilgi kontrolü; mevzuat önerisi; önerilen havale birimi.</a:t>
            </a:r>
          </a:p>
          <a:p>
            <a:pPr/>
            <a:r>
              <a:t>3. (45 sn) Görev 2: resmî yazı + indirme. Taslak önizleme (Yön. 2646 format) → DOCX/PDF indir → dosya iner.</a:t>
            </a:r>
          </a:p>
          <a:p>
            <a:pPr/>
            <a:r>
              <a:t>4. (30 sn) Eksik-bilgi senaryosu. "Şikâyet (eksik)" → sistem eksik alanı yakalar, clarify soruları üretir;</a:t>
            </a:r>
          </a:p>
          <a:p>
            <a:pPr/>
            <a:r>
              <a:t>"körlemesine yazı üretmez."</a:t>
            </a:r>
          </a:p>
          <a:p>
            <a:pPr/>
            <a:r>
              <a:t>5. (20 sn) Disclaimer + offline vurgu. Her çıktıda yasal disclaimer; "bu demo mock modda,</a:t>
            </a:r>
          </a:p>
          <a:p>
            <a:pPr/>
            <a:r>
              <a:t>internet olmadan da tam çalışıyor."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B. Slayt İskeleti (final 10 dk — PPTX'e aktarılacak)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Kapak / takım — proje adı, 1. Senaryo, 4 kişi + roller.</a:t>
            </a:r>
          </a:p>
          <a:p>
            <a:pPr/>
            <a:r>
              <a:t>2. Problem — kamu evrak yükü (hacim · süre · format), 3 madde.</a:t>
            </a:r>
          </a:p>
          <a:p>
            <a:pPr/>
            <a:r>
              <a:t>3. Çözüm + mimari — iki görev tek pipeline, 10 node diyagramı (docs/img/02-akis.png).</a:t>
            </a:r>
          </a:p>
          <a:p>
            <a:pPr/>
            <a:r>
              <a:t>4. [CANLI DEMO] — slayt yerine ekran paylaşımı (yedek: docs/img/ + demo.gif).</a:t>
            </a:r>
          </a:p>
          <a:p>
            <a:pPr/>
            <a:r>
              <a:t>5. Görev 1 sonuçları — sınıflandırma/çıkarım/eksik/mevzuat/özet + mock-taban skor.</a:t>
            </a:r>
          </a:p>
          <a:p>
            <a:pPr/>
            <a:r>
              <a:t>6. Görev 2 sonuçları — yönlendirme/taslak/üslup/bilgilendirme + mock-taban skor.</a:t>
            </a:r>
          </a:p>
          <a:p>
            <a:pPr/>
            <a:r>
              <a:t>7. Teknik derinlik — RAG b=0.3, verify false-veto=0, Wilson CI + McNemar ablasyon.</a:t>
            </a:r>
          </a:p>
          <a:p>
            <a:pPr/>
            <a:r>
              <a:t>8. Dürüst skor — held-out ilerleme: mock 0.22 → mini 0.61 → gpt-4o 0.91 (op. 0.93 / Top-1 0.93, 98/108).</a:t>
            </a:r>
          </a:p>
          <a:p>
            <a:pPr/>
            <a:r>
              <a:t>9. Yenilikçilik + ticarileşme — PII maskeleme, ENV-gated CRAG/Self-RAG, MIT; EBYS entegrasyonu, SaaS/on-prem (ticarileşme.md).</a:t>
            </a:r>
          </a:p>
          <a:p>
            <a:pPr/>
            <a:r>
              <a:t>10. Kapanış — Görev 1 (6/6) + Görev 2 (5/5), 649 test, CI; yol haritası; kapanış cümlesi.</a:t>
            </a:r>
          </a:p>
        </p:txBody>
      </p:sp>
      <p:pic>
        <p:nvPicPr>
          <p:cNvPr id="4" name="Picture 3" descr="02-ak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3840480" cy="10599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C. Olası Jüri Soruları + Cevapları (5 dk soru-cevap)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### S1. "Doğruluk skorunuz nedir? Bu sayılar gerçekçi mi?" ⭐ (en kritik)</a:t>
            </a:r>
          </a:p>
          <a:p>
            <a:pPr/>
            <a:r>
              <a:t>### S2. "Gerçek kamu verisi mi kullandınız?"</a:t>
            </a:r>
          </a:p>
          <a:p>
            <a:pPr/>
            <a:r>
              <a:t>### S3. "Sistem halüsinasyon yapar mı? Yanlış mevzuat/kurum uydurur mu?"</a:t>
            </a:r>
          </a:p>
          <a:p>
            <a:pPr/>
            <a:r>
              <a:t>### S4. "Çok-ajan mimari gerçekten gerekli mi, yoksa süsleme mi?"</a:t>
            </a:r>
          </a:p>
          <a:p>
            <a:pPr/>
            <a:r>
              <a:t>### S5. "Kişisel veri (KVKK) nasıl korunuyor?"</a:t>
            </a:r>
          </a:p>
          <a:p>
            <a:pPr/>
            <a:r>
              <a:t>### S6. "İnternet kesilirse / canlı çalıştırmamızı istersek demo çalışır mı?"</a:t>
            </a:r>
          </a:p>
          <a:p>
            <a:pPr/>
            <a:r>
              <a:t>### S7. "Lisans durumunuz? Ticarileştirilebilir mi?"</a:t>
            </a:r>
          </a:p>
          <a:p>
            <a:pPr/>
            <a:r>
              <a:t>### S8. "Bu projeyi ADALET-AGENT'tan mı türettiniz? Özgün mü?"</a:t>
            </a:r>
          </a:p>
          <a:p>
            <a:pPr/>
            <a:r>
              <a:t>### S9. "Eksik / yapamadığınız ne var?"</a:t>
            </a:r>
          </a:p>
          <a:p>
            <a:pPr/>
            <a:r>
              <a:t>### S10. "Latency / hız? Real-time mı?"</a:t>
            </a:r>
          </a:p>
        </p:txBody>
      </p:sp>
      <p:pic>
        <p:nvPicPr>
          <p:cNvPr id="4" name="Picture 3" descr="03-son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3840480" cy="44048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D. Sunum Öncesi Kontrol Listesi (sunan ekip için)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[ ] PPTX + PDF export hazır; docs/img/01-04.png + demo.gif gömülü.</a:t>
            </a:r>
          </a:p>
          <a:p>
            <a:pPr/>
            <a:r>
              <a:t>[ ] Backend mock modda ayakta (uv run uvicorn main:app --port 8000); /health 200.</a:t>
            </a:r>
          </a:p>
          <a:p>
            <a:pPr/>
            <a:r>
              <a:t>[ ] Frontend ayakta (npm run dev veya dist/ + npm run preview).</a:t>
            </a:r>
          </a:p>
          <a:p>
            <a:pPr/>
            <a:r>
              <a:t>[ ] 5 örnek evrak tek-tıkla çalışıyor; DOCX/PDF indirme test edildi.</a:t>
            </a:r>
          </a:p>
          <a:p>
            <a:pPr/>
            <a:r>
              <a:t>[ ] İnternet-kesinti provası: Wi-Fi kapalıyken demo baştan sona koşturuldu.</a:t>
            </a:r>
          </a:p>
          <a:p>
            <a:pPr/>
            <a:r>
              <a:t>[ ] Skor sayıları ezberde + "mock taban" ibaresi her seferinde sözlü.</a:t>
            </a:r>
          </a:p>
          <a:p>
            <a:pPr/>
            <a:r>
              <a:t>[ ] Zaman provası: 10 dk'yı aşmıyor (demo 4 dk'da bitiyor).</a:t>
            </a:r>
          </a:p>
          <a:p>
            <a:pPr/>
            <a:r>
              <a:t>[ ] Soru-cevap: yukarıdaki 10 soru ekipçe paylaşıldı (kim hangi konuyu yanıtlıyor).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